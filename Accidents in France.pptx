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CDED-B05C-B22D-7ECE-47AA22D29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7C273-CF2E-AA60-C17D-77D2EBEE1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9B6EC-FA9A-1631-A614-4348B1E6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BDD28-A7AF-ABF9-D32A-7F48068A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6B367-B3D6-16C8-45C3-F02F3FB72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2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2C57-863F-D612-1706-5C8D50CA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F24C9-0A31-31F9-BA62-77ABC269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525F-94B0-E0A8-246C-4EECFDB9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9E250-29EB-B503-74D3-51781CF4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E96D2-4009-90AF-C634-F8713327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4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B44B-633B-5E02-BA95-8CE98F8E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871E1-840D-D636-A3A0-F40AF499C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9430D-3883-B73F-80BA-A1618A46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FEFAE-2095-0258-ACF5-D9790B3A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3105-6157-27BC-26A5-F25B3B5B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52BA-4C98-DD31-E637-0A867183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AD55D-EFCC-33EC-8296-78E1AD2D0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B63C9-54ED-DDE9-A114-A99DD17DC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C5607-A0CD-6600-81FB-E5B3A9AF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32EAC-3098-A36A-ACA1-FBD1200B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E61EF-8232-00A2-789E-1239197A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1D58-1890-9E0C-B83B-7B393783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6ADF-FE5A-CE1E-7F33-485972CC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46DF0-A4C4-FA1E-170F-35D96B28F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13AC4-5098-E1E3-48D5-488F6B106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29EF2-A044-0EC7-3C53-8909DE2BC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3616F-3010-EC2F-4AF5-ACA5EEB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FBFCE-61AC-548A-A592-3EB2F25E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E252A-26EB-D854-8E62-499A795A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0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5F3A-3A2C-96E1-1C00-C7D33771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36EE6-43D5-55B0-05DC-D32B506D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25878-B585-DA53-63D3-B3B242FC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309AD-4CB4-C23E-8727-342F1CF7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A885E-F866-F1F7-60ED-68CFC2C3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9A9B8-F0AA-6645-C8CD-EB75048A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ADDAE-3B72-865B-B9F0-CAA1A3AA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8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C0D7-7D5C-DB5F-841F-8B9BEC7A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2088-E9D2-FFD8-3D4C-0E9185F3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5BAF2-2510-9E67-66D8-A80C77C7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702B2-F0A0-6F8E-BC12-BCC4C6AF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DE7C4-41B7-CBAD-8EB9-1FC44AA4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ECA21-9072-F95B-12CF-5C25ED32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7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308E-6125-42E2-E591-B7280302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0FBD4-E5FB-BF80-718E-686E377F9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CC5D4-6525-9764-F26F-E92AEA460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F612-495B-8258-5BFC-3D867F5F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CCAE5-ED27-E27A-DF7E-2524C0A0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6DF66-0797-95CD-5FE6-ACE093B7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1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F8AF-9743-F5B3-6FFD-C162F37B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86C5D-61FC-3733-01CF-1A85AC022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81AD-4484-2876-7EFF-5EF174AD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CC045-E231-0971-835A-5379CFFA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58864-42A5-7549-8356-4650D7CE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5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F8CA6-A96F-3576-9F30-996A552FD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DAD41-B0D9-0809-2F71-741ADD788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B71F6-D1A1-9DCF-8286-9B33A2DC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8E0E7-E841-1FFC-CA10-CC1998D8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C2906-CA32-070B-16C1-E3C5D139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926F4-174A-FA17-1D20-2FD3192D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948F6-1695-81E9-1CC5-03C2457BC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733B-5EB1-C72C-C6F6-728FFAC7D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E427D-29F1-4D9F-8B5A-1B6F35EF77F2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C1B2-128A-F58D-4D16-0674AC3BC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A632D-3BC9-B8C5-981D-2D3E7CA4D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F5950-8F5B-421B-A0D0-A970684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5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8A3919-EAFB-9B79-89D3-EEF748D660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0FD12-94DB-FE61-C172-A9394F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666D1-A29D-8A5B-3A29-73919B3FF6D9}"/>
              </a:ext>
            </a:extLst>
          </p:cNvPr>
          <p:cNvSpPr txBox="1"/>
          <p:nvPr/>
        </p:nvSpPr>
        <p:spPr>
          <a:xfrm>
            <a:off x="548640" y="91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rial"/>
              </a:rPr>
              <a:t>Turning 12 Years of Accident Data into Safer French Roads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850DBD-2EEF-D000-20B0-F29B192C0FD6}"/>
              </a:ext>
            </a:extLst>
          </p:cNvPr>
          <p:cNvSpPr txBox="1"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D0D0CE"/>
                </a:solidFill>
                <a:latin typeface="Arial"/>
              </a:rPr>
              <a:t>Data Consultant Briefing to the French Government  |  BAAC national accident records, 2005 to 2016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A0D1C8-D743-8FC5-1AD9-3E19DED61C15}"/>
              </a:ext>
            </a:extLst>
          </p:cNvPr>
          <p:cNvSpPr txBox="1"/>
          <p:nvPr/>
        </p:nvSpPr>
        <p:spPr>
          <a:xfrm>
            <a:off x="548640" y="1115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6A38"/>
                </a:solidFill>
                <a:latin typeface="Arial"/>
              </a:rPr>
              <a:t>The Problem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6060D-F6CE-3AC8-15C8-2D4321AF2E45}"/>
              </a:ext>
            </a:extLst>
          </p:cNvPr>
          <p:cNvSpPr txBox="1"/>
          <p:nvPr/>
        </p:nvSpPr>
        <p:spPr>
          <a:xfrm>
            <a:off x="548640" y="1572768"/>
            <a:ext cx="603504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046A38"/>
                </a:solidFill>
                <a:latin typeface="Arial"/>
              </a:rPr>
              <a:t>Lives still lost every day. </a:t>
            </a:r>
            <a:r>
              <a:rPr sz="1400" dirty="0">
                <a:solidFill>
                  <a:srgbClr val="000000"/>
                </a:solidFill>
                <a:latin typeface="Arial"/>
              </a:rPr>
              <a:t>Despite a decade of policy effort, road accidents in France still claimed 3,655 lives in 2016. That is roughly 10 deaths every single day.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46A38"/>
                </a:solidFill>
                <a:latin typeface="Arial"/>
              </a:rPr>
              <a:t>Progress has </a:t>
            </a:r>
            <a:r>
              <a:rPr lang="en-US" sz="1400" b="1" dirty="0">
                <a:solidFill>
                  <a:srgbClr val="046A38"/>
                </a:solidFill>
                <a:latin typeface="Arial"/>
              </a:rPr>
              <a:t>slowed</a:t>
            </a:r>
            <a:r>
              <a:rPr sz="1400" b="1" dirty="0">
                <a:solidFill>
                  <a:srgbClr val="046A38"/>
                </a:solidFill>
                <a:latin typeface="Arial"/>
              </a:rPr>
              <a:t>. </a:t>
            </a:r>
            <a:r>
              <a:rPr sz="1400" dirty="0">
                <a:solidFill>
                  <a:srgbClr val="000000"/>
                </a:solidFill>
                <a:latin typeface="Arial"/>
              </a:rPr>
              <a:t>Accidents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declined</a:t>
            </a:r>
            <a:r>
              <a:rPr sz="1400" dirty="0">
                <a:solidFill>
                  <a:srgbClr val="000000"/>
                </a:solidFill>
                <a:latin typeface="Arial"/>
              </a:rPr>
              <a:t> 33% between 2005 and 2013, but the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downward trend</a:t>
            </a:r>
            <a:r>
              <a:rPr sz="1400" dirty="0">
                <a:solidFill>
                  <a:srgbClr val="000000"/>
                </a:solidFill>
                <a:latin typeface="Arial"/>
              </a:rPr>
              <a:t> has plateaued since 2013, and fatalities have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risen again</a:t>
            </a:r>
            <a:r>
              <a:rPr sz="1400" dirty="0">
                <a:solidFill>
                  <a:srgbClr val="000000"/>
                </a:solidFill>
                <a:latin typeface="Arial"/>
              </a:rPr>
              <a:t> (3,427 in 2013; 3,655 in 2016).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46A38"/>
                </a:solidFill>
                <a:latin typeface="Arial"/>
              </a:rPr>
              <a:t>Resources are </a:t>
            </a:r>
            <a:r>
              <a:rPr lang="en-US" sz="1400" b="1" dirty="0">
                <a:solidFill>
                  <a:srgbClr val="046A38"/>
                </a:solidFill>
                <a:latin typeface="Arial"/>
              </a:rPr>
              <a:t>allocated too broadly</a:t>
            </a:r>
            <a:r>
              <a:rPr sz="1400" b="1" dirty="0">
                <a:solidFill>
                  <a:srgbClr val="046A38"/>
                </a:solidFill>
                <a:latin typeface="Arial"/>
              </a:rPr>
              <a:t>. </a:t>
            </a:r>
            <a:r>
              <a:rPr sz="1400" dirty="0">
                <a:solidFill>
                  <a:srgbClr val="000000"/>
                </a:solidFill>
                <a:latin typeface="Arial"/>
              </a:rPr>
              <a:t>Enforcement, infrastructure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,</a:t>
            </a:r>
            <a:r>
              <a:rPr sz="1400" dirty="0">
                <a:solidFill>
                  <a:srgbClr val="000000"/>
                </a:solidFill>
                <a:latin typeface="Arial"/>
              </a:rPr>
              <a:t> and campaign budgets are allocated broadly, while the data shows risk is highly concentrated in specific roads, hours, and user groups.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46A38"/>
                </a:solidFill>
                <a:latin typeface="Arial"/>
              </a:rPr>
              <a:t>The cost is </a:t>
            </a:r>
            <a:r>
              <a:rPr lang="en-US" sz="1400" b="1" dirty="0">
                <a:solidFill>
                  <a:srgbClr val="046A38"/>
                </a:solidFill>
                <a:latin typeface="Arial"/>
              </a:rPr>
              <a:t>huge</a:t>
            </a:r>
            <a:r>
              <a:rPr sz="1400" b="1" dirty="0">
                <a:solidFill>
                  <a:srgbClr val="046A38"/>
                </a:solidFill>
                <a:latin typeface="Arial"/>
              </a:rPr>
              <a:t>. </a:t>
            </a:r>
            <a:r>
              <a:rPr sz="1400" dirty="0">
                <a:solidFill>
                  <a:srgbClr val="000000"/>
                </a:solidFill>
                <a:latin typeface="Arial"/>
              </a:rPr>
              <a:t>Beyond the human toll, road accidents cost France an estimated tens of billions of euros per year in medical care, lost productivity and infrastructure damage.¹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537DB-3DFE-A55B-F3B4-93C7002C5EDE}"/>
              </a:ext>
            </a:extLst>
          </p:cNvPr>
          <p:cNvSpPr txBox="1"/>
          <p:nvPr/>
        </p:nvSpPr>
        <p:spPr>
          <a:xfrm>
            <a:off x="6903720" y="11155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6A8"/>
                </a:solidFill>
                <a:latin typeface="Arial"/>
              </a:rPr>
              <a:t>The Opportunity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BEB682-982B-1C2A-51B3-DB2F21E9613B}"/>
              </a:ext>
            </a:extLst>
          </p:cNvPr>
          <p:cNvSpPr txBox="1"/>
          <p:nvPr/>
        </p:nvSpPr>
        <p:spPr>
          <a:xfrm>
            <a:off x="6903720" y="1572768"/>
            <a:ext cx="47548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0076A8"/>
                </a:solidFill>
                <a:latin typeface="Arial"/>
              </a:rPr>
              <a:t>A rich national </a:t>
            </a:r>
            <a:r>
              <a:rPr lang="en-US" sz="1400" b="1" dirty="0">
                <a:solidFill>
                  <a:srgbClr val="0076A8"/>
                </a:solidFill>
                <a:latin typeface="Arial"/>
              </a:rPr>
              <a:t>dataset</a:t>
            </a:r>
            <a:r>
              <a:rPr sz="1400" b="1" dirty="0">
                <a:solidFill>
                  <a:srgbClr val="0076A8"/>
                </a:solidFill>
                <a:latin typeface="Arial"/>
              </a:rPr>
              <a:t>. </a:t>
            </a:r>
            <a:r>
              <a:rPr sz="1400" dirty="0">
                <a:solidFill>
                  <a:srgbClr val="000000"/>
                </a:solidFill>
                <a:latin typeface="Arial"/>
              </a:rPr>
              <a:t>839,985 recorded accidents, 1.87 million involved persons and 1.43 million vehicles (2005 to 2016), with location, time, road, weather, vehicle and casualty detail.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076A8"/>
                </a:solidFill>
                <a:latin typeface="Arial"/>
              </a:rPr>
              <a:t>Target where the risk concentrates. </a:t>
            </a:r>
            <a:r>
              <a:rPr sz="1400" dirty="0">
                <a:solidFill>
                  <a:srgbClr val="000000"/>
                </a:solidFill>
                <a:latin typeface="Arial"/>
              </a:rPr>
              <a:t>Analytics can pinpoint where, when and for whom risk is highest, so every enforcement euro is spent where it saves the most lives.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076A8"/>
                </a:solidFill>
                <a:latin typeface="Arial"/>
              </a:rPr>
              <a:t>The mission. </a:t>
            </a:r>
            <a:r>
              <a:rPr sz="1400" dirty="0">
                <a:solidFill>
                  <a:srgbClr val="000000"/>
                </a:solidFill>
                <a:latin typeface="Arial"/>
              </a:rPr>
              <a:t>Identify the highest-impact risk factors and translate them into targeted, measurable interventions to restart the decline in road deaths.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6603F3-B9AF-4B9D-5904-7C5445AD27D5}"/>
              </a:ext>
            </a:extLst>
          </p:cNvPr>
          <p:cNvSpPr txBox="1"/>
          <p:nvPr/>
        </p:nvSpPr>
        <p:spPr>
          <a:xfrm>
            <a:off x="594360" y="5120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53565A"/>
                </a:solidFill>
                <a:latin typeface="Arial"/>
              </a:rPr>
              <a:t>Key question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44A337-456F-A976-2F6C-24B63D0D047C}"/>
              </a:ext>
            </a:extLst>
          </p:cNvPr>
          <p:cNvSpPr txBox="1"/>
          <p:nvPr/>
        </p:nvSpPr>
        <p:spPr>
          <a:xfrm>
            <a:off x="594360" y="5440680"/>
            <a:ext cx="110642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000000"/>
                </a:solidFill>
                <a:latin typeface="Arial"/>
              </a:rPr>
              <a:t>“Where is the risk actually concentrated</a:t>
            </a:r>
            <a:r>
              <a:rPr lang="en-US" sz="25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Arial"/>
              </a:rPr>
              <a:t>and what should we </a:t>
            </a:r>
            <a:r>
              <a:rPr lang="en-US" sz="2500" b="1" dirty="0">
                <a:solidFill>
                  <a:srgbClr val="000000"/>
                </a:solidFill>
                <a:latin typeface="Arial"/>
              </a:rPr>
              <a:t>do</a:t>
            </a:r>
            <a:r>
              <a:rPr sz="2500" b="1" dirty="0">
                <a:solidFill>
                  <a:srgbClr val="000000"/>
                </a:solidFill>
                <a:latin typeface="Arial"/>
              </a:rPr>
              <a:t>?”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8628B-7998-CEF4-1E7C-D28A8EBCA8A7}"/>
              </a:ext>
            </a:extLst>
          </p:cNvPr>
          <p:cNvSpPr txBox="1"/>
          <p:nvPr/>
        </p:nvSpPr>
        <p:spPr>
          <a:xfrm>
            <a:off x="594360" y="64465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53565A"/>
                </a:solidFill>
                <a:latin typeface="Arial"/>
              </a:rPr>
              <a:t>¹ ONISR (Observatoire national </a:t>
            </a:r>
            <a:r>
              <a:rPr sz="900" b="0" dirty="0" err="1">
                <a:solidFill>
                  <a:srgbClr val="53565A"/>
                </a:solidFill>
                <a:latin typeface="Arial"/>
              </a:rPr>
              <a:t>interministériel</a:t>
            </a:r>
            <a:r>
              <a:rPr sz="900" b="0" dirty="0">
                <a:solidFill>
                  <a:srgbClr val="53565A"/>
                </a:solidFill>
                <a:latin typeface="Arial"/>
              </a:rPr>
              <a:t> de la sécurité </a:t>
            </a:r>
            <a:r>
              <a:rPr sz="900" b="0" dirty="0" err="1">
                <a:solidFill>
                  <a:srgbClr val="53565A"/>
                </a:solidFill>
                <a:latin typeface="Arial"/>
              </a:rPr>
              <a:t>routière</a:t>
            </a:r>
            <a:r>
              <a:rPr sz="900" b="0" dirty="0">
                <a:solidFill>
                  <a:srgbClr val="53565A"/>
                </a:solidFill>
                <a:latin typeface="Arial"/>
              </a:rPr>
              <a:t>) estimates of the annual socioeconomic cost of road accidents in France. </a:t>
            </a:r>
            <a:endParaRPr lang="en-US" sz="900" b="0" dirty="0">
              <a:solidFill>
                <a:srgbClr val="53565A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53565A"/>
                </a:solidFill>
                <a:latin typeface="Arial"/>
              </a:rPr>
              <a:t>All other figures are computed from the BAAC dataset (Kaggle, </a:t>
            </a:r>
            <a:r>
              <a:rPr sz="900" b="0" dirty="0" err="1">
                <a:solidFill>
                  <a:srgbClr val="53565A"/>
                </a:solidFill>
                <a:latin typeface="Arial"/>
              </a:rPr>
              <a:t>ahmedlahlou</a:t>
            </a:r>
            <a:r>
              <a:rPr sz="900" b="0" dirty="0">
                <a:solidFill>
                  <a:srgbClr val="53565A"/>
                </a:solidFill>
                <a:latin typeface="Arial"/>
              </a:rPr>
              <a:t>/accidents-in-france-from-2005-to-2016).</a:t>
            </a:r>
          </a:p>
        </p:txBody>
      </p:sp>
    </p:spTree>
    <p:extLst>
      <p:ext uri="{BB962C8B-B14F-4D97-AF65-F5344CB8AC3E}">
        <p14:creationId xmlns:p14="http://schemas.microsoft.com/office/powerpoint/2010/main" val="83061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61E5-355E-F612-C358-4E93D181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5FE62E-47A4-921D-CB4D-E701EEC132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584AC-8653-AEEC-494D-CD383D1A43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4DEF6-FE86-978B-2418-18543EBE832E}"/>
              </a:ext>
            </a:extLst>
          </p:cNvPr>
          <p:cNvSpPr txBox="1"/>
          <p:nvPr/>
        </p:nvSpPr>
        <p:spPr>
          <a:xfrm>
            <a:off x="548639" y="91440"/>
            <a:ext cx="112569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rial"/>
              </a:rPr>
              <a:t>Six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Insights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That Should Redirect France's Road Safety Spending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B6257-AE4C-A14E-DBC8-FDBAD0A3A368}"/>
              </a:ext>
            </a:extLst>
          </p:cNvPr>
          <p:cNvSpPr txBox="1"/>
          <p:nvPr/>
        </p:nvSpPr>
        <p:spPr>
          <a:xfrm>
            <a:off x="548640" y="5486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D0D0CE"/>
                </a:solidFill>
                <a:latin typeface="Arial"/>
              </a:rPr>
              <a:t>Stats: </a:t>
            </a:r>
            <a:r>
              <a:rPr sz="1300" b="0" dirty="0">
                <a:solidFill>
                  <a:srgbClr val="D0D0CE"/>
                </a:solidFill>
                <a:latin typeface="Arial"/>
              </a:rPr>
              <a:t>839,985 accidents · 1,876,005 involved persons · 50,589 deaths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C9A2C-AB42-9224-048A-91ACF77002F9}"/>
              </a:ext>
            </a:extLst>
          </p:cNvPr>
          <p:cNvSpPr txBox="1"/>
          <p:nvPr/>
        </p:nvSpPr>
        <p:spPr>
          <a:xfrm>
            <a:off x="223157" y="6320246"/>
            <a:ext cx="1183821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dirty="0">
                <a:solidFill>
                  <a:srgbClr val="000000"/>
                </a:solidFill>
                <a:latin typeface="Arial"/>
              </a:rPr>
              <a:t>RECOMMENDATION</a:t>
            </a:r>
            <a:r>
              <a:rPr lang="en-US" sz="1150" b="1" dirty="0">
                <a:solidFill>
                  <a:srgbClr val="000000"/>
                </a:solidFill>
                <a:latin typeface="Arial"/>
              </a:rPr>
              <a:t>:</a:t>
            </a:r>
            <a:r>
              <a:rPr sz="115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>
                <a:solidFill>
                  <a:srgbClr val="000000"/>
                </a:solidFill>
                <a:latin typeface="Arial"/>
              </a:rPr>
              <a:t>(1) Set night and weekend enforcement windows plus night transport on hang out routes. (2) Upgrade the deadliest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rural roads</a:t>
            </a:r>
            <a:r>
              <a:rPr sz="1100" dirty="0">
                <a:solidFill>
                  <a:srgbClr val="000000"/>
                </a:solidFill>
                <a:latin typeface="Arial"/>
              </a:rPr>
              <a:t> with median barriers, rumble strips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,</a:t>
            </a:r>
            <a:r>
              <a:rPr sz="1100" dirty="0">
                <a:solidFill>
                  <a:srgbClr val="000000"/>
                </a:solidFill>
                <a:latin typeface="Arial"/>
              </a:rPr>
              <a:t> and 2+1 layouts. (3) Protect pedestrians with lower town speed limits, safer crossings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,</a:t>
            </a:r>
            <a:r>
              <a:rPr sz="1100" dirty="0">
                <a:solidFill>
                  <a:srgbClr val="000000"/>
                </a:solidFill>
                <a:latin typeface="Arial"/>
              </a:rPr>
              <a:t> and signal timing for an aging population. (4) Focus and fund more on accident severity, not volume.</a:t>
            </a:r>
          </a:p>
        </p:txBody>
      </p:sp>
      <p:pic>
        <p:nvPicPr>
          <p:cNvPr id="8" name="Picture 7" descr="final1_when.png">
            <a:extLst>
              <a:ext uri="{FF2B5EF4-FFF2-40B4-BE49-F238E27FC236}">
                <a16:creationId xmlns:a16="http://schemas.microsoft.com/office/drawing/2014/main" id="{EDB16B13-63F4-94DB-BB30-44FA342D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42850"/>
            <a:ext cx="3657600" cy="2496312"/>
          </a:xfrm>
          <a:prstGeom prst="rect">
            <a:avLst/>
          </a:prstGeom>
        </p:spPr>
      </p:pic>
      <p:pic>
        <p:nvPicPr>
          <p:cNvPr id="12" name="Picture 11" descr="final2_young.png">
            <a:extLst>
              <a:ext uri="{FF2B5EF4-FFF2-40B4-BE49-F238E27FC236}">
                <a16:creationId xmlns:a16="http://schemas.microsoft.com/office/drawing/2014/main" id="{E4B64D2A-715D-6CEB-75C6-40248BBE2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1042850"/>
            <a:ext cx="3657600" cy="2496312"/>
          </a:xfrm>
          <a:prstGeom prst="rect">
            <a:avLst/>
          </a:prstGeom>
        </p:spPr>
      </p:pic>
      <p:pic>
        <p:nvPicPr>
          <p:cNvPr id="15" name="Picture 14" descr="final3_seniors.png">
            <a:extLst>
              <a:ext uri="{FF2B5EF4-FFF2-40B4-BE49-F238E27FC236}">
                <a16:creationId xmlns:a16="http://schemas.microsoft.com/office/drawing/2014/main" id="{8D385204-DFD6-2B51-690C-AC6A2DFE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042850"/>
            <a:ext cx="3657600" cy="2496312"/>
          </a:xfrm>
          <a:prstGeom prst="rect">
            <a:avLst/>
          </a:prstGeom>
        </p:spPr>
      </p:pic>
      <p:pic>
        <p:nvPicPr>
          <p:cNvPr id="18" name="Picture 17" descr="final4_pedestrians.png">
            <a:extLst>
              <a:ext uri="{FF2B5EF4-FFF2-40B4-BE49-F238E27FC236}">
                <a16:creationId xmlns:a16="http://schemas.microsoft.com/office/drawing/2014/main" id="{8447CFF1-19B7-EA19-D395-4940A302E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710938"/>
            <a:ext cx="3657600" cy="2496312"/>
          </a:xfrm>
          <a:prstGeom prst="rect">
            <a:avLst/>
          </a:prstGeom>
        </p:spPr>
      </p:pic>
      <p:pic>
        <p:nvPicPr>
          <p:cNvPr id="22" name="Picture 21" descr="final6_reason.png">
            <a:extLst>
              <a:ext uri="{FF2B5EF4-FFF2-40B4-BE49-F238E27FC236}">
                <a16:creationId xmlns:a16="http://schemas.microsoft.com/office/drawing/2014/main" id="{3FA93FE2-F23A-503B-2F71-9B5DAB995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676" y="3710938"/>
            <a:ext cx="3657600" cy="2496312"/>
          </a:xfrm>
          <a:prstGeom prst="rect">
            <a:avLst/>
          </a:prstGeom>
        </p:spPr>
      </p:pic>
      <p:pic>
        <p:nvPicPr>
          <p:cNvPr id="24" name="Picture 23" descr="final7_locations.png">
            <a:extLst>
              <a:ext uri="{FF2B5EF4-FFF2-40B4-BE49-F238E27FC236}">
                <a16:creationId xmlns:a16="http://schemas.microsoft.com/office/drawing/2014/main" id="{C6B8DC95-D38C-3DAF-4A14-FF0890C0B8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3710938"/>
            <a:ext cx="3657600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0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408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Godfried Matahelemual</dc:creator>
  <cp:lastModifiedBy>Godfried Matahelemual</cp:lastModifiedBy>
  <cp:revision>5</cp:revision>
  <dcterms:created xsi:type="dcterms:W3CDTF">2026-07-19T07:30:57Z</dcterms:created>
  <dcterms:modified xsi:type="dcterms:W3CDTF">2026-07-19T15:59:49Z</dcterms:modified>
</cp:coreProperties>
</file>